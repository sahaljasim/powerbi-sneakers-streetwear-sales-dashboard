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5" r:id="rId2"/>
    <p:sldId id="266" r:id="rId3"/>
    <p:sldId id="267" r:id="rId4"/>
    <p:sldId id="268" r:id="rId5"/>
    <p:sldId id="269" r:id="rId6"/>
    <p:sldId id="27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C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64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64008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800" b="1" dirty="0" smtClean="0">
                <a:solidFill>
                  <a:srgbClr val="00B4D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endParaRPr lang="en-US" sz="5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0E0EF"/>
                </a:solidFill>
              </a:rPr>
              <a:t>TOOL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0" y="26334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Microsoft Power BI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318211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050" dirty="0">
                <a:solidFill>
                  <a:srgbClr val="90E0EF"/>
                </a:solidFill>
              </a:rPr>
              <a:t>Dark Navy Theme  ·  Sales Performance (2022)</a:t>
            </a:r>
            <a:endParaRPr lang="en-US" sz="1050" dirty="0"/>
          </a:p>
          <a:p>
            <a:pPr marL="0" indent="0" algn="r">
              <a:spcAft>
                <a:spcPts val="400"/>
              </a:spcAft>
              <a:buNone/>
            </a:pPr>
            <a:r>
              <a:rPr lang="en-US" sz="1050" dirty="0">
                <a:solidFill>
                  <a:srgbClr val="90E0EF"/>
                </a:solidFill>
              </a:rPr>
              <a:t>$193K Revenue  ·  353 Orders  ·  1,097 Units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457200"/>
            <a:ext cx="0" cy="420624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59436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Sneakers &amp;</a:t>
            </a:r>
            <a:endParaRPr lang="en-US" sz="3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Streetwear</a:t>
            </a:r>
            <a:endParaRPr lang="en-US" sz="3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Dashboard</a:t>
            </a:r>
            <a:endParaRPr lang="en-US" sz="3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90E0EF"/>
                </a:solidFill>
              </a:rPr>
              <a:t>Interactive Power BI dashboard showing monthly revenue trends, brand rankings, geographic sales distribution, category breakdown, and order performance for 2022.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882896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629"/>
                </a:solidFill>
              </a:rPr>
              <a:t>Sales Performance Overview (2022)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Power BI  ·  Slide 1 of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355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KPI Visuals — Cards &amp; Gauge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65960" cy="146304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9659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$193K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Visual: Card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90672"/>
            <a:ext cx="196596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163824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3E8"/>
                </a:solidFill>
              </a:rPr>
              <a:t>DAX: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34015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Revenue = SUM(Sales[Revenue])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Revenue column summed across all rows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1417320"/>
            <a:ext cx="1965960" cy="146304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1417320"/>
            <a:ext cx="19659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$547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0604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Avg Order Value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06040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Visual: Card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06040" y="3090672"/>
            <a:ext cx="196596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97480" y="3163824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3E8"/>
                </a:solidFill>
              </a:rPr>
              <a:t>DAX: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97480" y="34015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Order Value = DIVIDE([Total Revenue],[Total Orders])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97480" y="38862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Revenue divided by total order count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1417320"/>
            <a:ext cx="1965960" cy="146304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417320"/>
            <a:ext cx="19659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1,097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75488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Total Quantity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Visual: Card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090672"/>
            <a:ext cx="196596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163824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3E8"/>
                </a:solidFill>
              </a:rPr>
              <a:t>DAX: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34015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Quantity = SUM(Sales[Quantity])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38862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Quantity column summed across all rows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03720" y="1417320"/>
            <a:ext cx="1965960" cy="146304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1417320"/>
            <a:ext cx="19659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353/706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0372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Total Orders (Gauge)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03720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Visual: Gauge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03720" y="3090672"/>
            <a:ext cx="196596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95160" y="3163824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3E8"/>
                </a:solidFill>
              </a:rPr>
              <a:t>DAX: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95160" y="34015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Orders = COUNTROWS(Sales)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95160" y="38862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Counts rows. Max on gauge = 706 (2× target)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461772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3F2F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Power BI  ·  Slide 2 of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Charts Used — Types, Fields &amp; Real Values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76656"/>
          </a:xfrm>
          <a:prstGeom prst="roundRect">
            <a:avLst>
              <a:gd name="adj" fmla="val 6757"/>
            </a:avLst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7665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527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Total Revenue by Month Name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261872" cy="201168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Clustered Column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454037" y="12618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X-axis: Month Name (Jan–Aug)  |  Y-axis: Total Revenue ($K)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29968" y="15361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3E8"/>
                </a:solidFill>
              </a:rPr>
              <a:t>Values: Peak: July = $32K (green bar)  |  Lowest: April = $17K  |  Aug = $25K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28016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</a:rPr>
              <a:t>💡 Sort X-axis by Month Number column — NOT alphabetically. This was your key technique!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956816"/>
            <a:ext cx="8229600" cy="676656"/>
          </a:xfrm>
          <a:prstGeom prst="roundRect">
            <a:avLst>
              <a:gd name="adj" fmla="val 6757"/>
            </a:avLst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56816"/>
            <a:ext cx="54864" cy="67665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020824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Total Quantity by Country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322576"/>
            <a:ext cx="1261872" cy="201168"/>
          </a:xfrm>
          <a:prstGeom prst="roundRect">
            <a:avLst>
              <a:gd name="adj" fmla="val 18182"/>
            </a:avLst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2257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Line Chart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454037" y="20116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X-axis: Country  |  Y-axis: Quantity  |  Countries: UK, Canada, Japan, Germany, Australia, USA, India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29968" y="23042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3E8"/>
                </a:solidFill>
              </a:rPr>
              <a:t>Values: UK: 191 (highest)  |  India: 125 (lowest)  |  Declining trend left to right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72200" y="2048256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204825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</a:rPr>
              <a:t>💡 Shows geographic demand. Europe leads, Asia lags. Drag Country to X, Quantity to 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24912"/>
            <a:ext cx="8229600" cy="676656"/>
          </a:xfrm>
          <a:prstGeom prst="roundRect">
            <a:avLst>
              <a:gd name="adj" fmla="val 6757"/>
            </a:avLst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724912"/>
            <a:ext cx="54864" cy="67665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78892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Total Orders by Category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090672"/>
            <a:ext cx="1261872" cy="201168"/>
          </a:xfrm>
          <a:prstGeom prst="roundRect">
            <a:avLst>
              <a:gd name="adj" fmla="val 18182"/>
            </a:avLst>
          </a:prstGeom>
          <a:solidFill>
            <a:srgbClr val="6C63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09067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Donut Chart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454037" y="27706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Values: Order Count  |  Legend: Category  |  4 segments shown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29968" y="30723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3E8"/>
                </a:solidFill>
              </a:rPr>
              <a:t>Values: Casual: 99 (28.05%)  |  Streetwear: 92 (26.06%)  |  Lim.Ed: 85 (24.08%)  |  Sports: 77 (21.81%)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72200" y="2816352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81635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</a:rPr>
              <a:t>💡 Nearly equal 4-way split. Insert Donut → Category to Legend, Count to Values. Add % labels.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493008"/>
            <a:ext cx="8229600" cy="676656"/>
          </a:xfrm>
          <a:prstGeom prst="roundRect">
            <a:avLst>
              <a:gd name="adj" fmla="val 6757"/>
            </a:avLst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493008"/>
            <a:ext cx="54864" cy="676656"/>
          </a:xfrm>
          <a:prstGeom prst="rect">
            <a:avLst/>
          </a:prstGeom>
          <a:solidFill>
            <a:srgbClr val="00F593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55701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Total Revenue by Brand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3858768"/>
            <a:ext cx="1261872" cy="201168"/>
          </a:xfrm>
          <a:prstGeom prst="roundRect">
            <a:avLst>
              <a:gd name="adj" fmla="val 18182"/>
            </a:avLst>
          </a:prstGeom>
          <a:solidFill>
            <a:srgbClr val="00F593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85876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Horizontal Bar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454037" y="355237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Y-axis: Brand Name  |  X-axis: Total Revenue ($K)  |  Data labels on bars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029968" y="3840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3E8"/>
                </a:solidFill>
              </a:rPr>
              <a:t>Values: Nike: $68K (green, #1)  |  Adidas: $37K  |  Off-White: $24K  |  Puma: $21K  |  Essentials: $13K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72200" y="3584448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358444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</a:rPr>
              <a:t>💡 Nike = 35% of total revenue. Insert Bar Chart → Brand to Y-axis, Revenue to X-axis.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261104"/>
            <a:ext cx="8229600" cy="676656"/>
          </a:xfrm>
          <a:prstGeom prst="roundRect">
            <a:avLst>
              <a:gd name="adj" fmla="val 6757"/>
            </a:avLst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4261104"/>
            <a:ext cx="54864" cy="67665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32511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Total Revenue by Country (Map)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4626864"/>
            <a:ext cx="1261872" cy="201168"/>
          </a:xfrm>
          <a:prstGeom prst="roundRect">
            <a:avLst>
              <a:gd name="adj" fmla="val 18182"/>
            </a:avLst>
          </a:prstGeom>
          <a:solidFill>
            <a:srgbClr val="00BCD4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62686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</a:rPr>
              <a:t>Azure Maps / ArcGIS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460133" y="433425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Location: Country field  |  Bubble size/color: Total Revenue  |  7 countries plotted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029968" y="460857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3E8"/>
                </a:solidFill>
              </a:rPr>
              <a:t>Values: UK and Germany = Europe leaders. India lowest. Map auto-generates from Country text field.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72200" y="4352544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1072" y="43525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</a:rPr>
              <a:t>💡 Insert → Map → Azure Maps. Drag Country to Location, Revenue to Bubble Size field.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Power BI  ·  Slide 3 of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Slicers &amp; Filters Used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Two slicers placed on the left panel filter all visuals simultaneously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3566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361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</a:rPr>
              <a:t>Slicer 1: Brand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Values visible in your dashboard: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0B1629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350008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304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Adidas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2743200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0B1629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825496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7797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Essentials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3218688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0B1629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300984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2552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New Era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3694176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0B1629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3776472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7307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Nike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3931920" cy="35661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536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</a:rPr>
              <a:t>Slicer 2: Category (Dropdown)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1938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Values visible in your dashboard: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56048" y="2212848"/>
            <a:ext cx="3657600" cy="329184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2212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All (selected)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56048" y="2615184"/>
            <a:ext cx="3657600" cy="329184"/>
          </a:xfrm>
          <a:prstGeom prst="roundRect">
            <a:avLst>
              <a:gd name="adj" fmla="val 13889"/>
            </a:avLst>
          </a:prstGeom>
          <a:solidFill>
            <a:srgbClr val="0B1629"/>
          </a:solidFill>
          <a:ln/>
        </p:spPr>
      </p:sp>
      <p:sp>
        <p:nvSpPr>
          <p:cNvPr id="28" name="Text 26"/>
          <p:cNvSpPr/>
          <p:nvPr/>
        </p:nvSpPr>
        <p:spPr>
          <a:xfrm>
            <a:off x="4956048" y="26151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Casual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56048" y="3017520"/>
            <a:ext cx="3657600" cy="329184"/>
          </a:xfrm>
          <a:prstGeom prst="roundRect">
            <a:avLst>
              <a:gd name="adj" fmla="val 13889"/>
            </a:avLst>
          </a:prstGeom>
          <a:solidFill>
            <a:srgbClr val="0B1629"/>
          </a:solidFill>
          <a:ln/>
        </p:spPr>
      </p:sp>
      <p:sp>
        <p:nvSpPr>
          <p:cNvPr id="30" name="Text 28"/>
          <p:cNvSpPr/>
          <p:nvPr/>
        </p:nvSpPr>
        <p:spPr>
          <a:xfrm>
            <a:off x="4956048" y="3017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Limited Edition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56048" y="3419856"/>
            <a:ext cx="3657600" cy="329184"/>
          </a:xfrm>
          <a:prstGeom prst="roundRect">
            <a:avLst>
              <a:gd name="adj" fmla="val 13889"/>
            </a:avLst>
          </a:prstGeom>
          <a:solidFill>
            <a:srgbClr val="0B1629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34198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Sportswear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56048" y="3822192"/>
            <a:ext cx="3657600" cy="329184"/>
          </a:xfrm>
          <a:prstGeom prst="roundRect">
            <a:avLst>
              <a:gd name="adj" fmla="val 13889"/>
            </a:avLst>
          </a:prstGeom>
          <a:solidFill>
            <a:srgbClr val="0B1629"/>
          </a:solidFill>
          <a:ln/>
        </p:spPr>
      </p:sp>
      <p:sp>
        <p:nvSpPr>
          <p:cNvPr id="34" name="Text 32"/>
          <p:cNvSpPr/>
          <p:nvPr/>
        </p:nvSpPr>
        <p:spPr>
          <a:xfrm>
            <a:off x="4956048" y="3822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Streetwear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047488"/>
            <a:ext cx="8229600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0749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E8"/>
                </a:solidFill>
              </a:rPr>
              <a:t>💡  Edit Interactions (Format tab) controls which charts respond to each slicer. Use this to make your dashboard intentional and polished.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Power BI  ·  Slide 4 of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Insights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114800" cy="114300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07008"/>
            <a:ext cx="54864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Nike $68K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#1 brand by revenue. Nearly double Adidas ($37K). Nike = 35% of total $193K. (Revenue by Brand Bar Chart)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4114800" cy="114300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07008"/>
            <a:ext cx="54864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July $32K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18013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Peak revenue month — highest of Jan–Aug 2022. April was slowest at $17K. (Monthly Column Chart)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114800" cy="114300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68880"/>
            <a:ext cx="54864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420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UK = 191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" y="30632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Top country by quantity sold. India is lowest at 125 units. (Total Quantity by Country Line Chart)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468880"/>
            <a:ext cx="4114800" cy="114300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468880"/>
            <a:ext cx="54864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5420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Casual 28%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37760" y="30632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Best-selling category with 99 orders — 28.05%. Streetwear close at 92 (26.06%). (Donut Chart)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4114800" cy="114300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30752"/>
            <a:ext cx="54864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039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353 Orders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4360" y="43251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Total orders shown on Gauge visual. Gauge max is 706 (double), showing 50% of target reached.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730752"/>
            <a:ext cx="4114800" cy="114300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730752"/>
            <a:ext cx="54864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8039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$547 AOV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937760" y="43251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Average Order Value = $193K ÷ 353 orders. A strong premium price point for streetwear. (Card Visual)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Power BI  ·  Slide 6 of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DAX Measures &amp; Power Query Steps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14800" cy="379476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Power Query Steps (7 steps)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0E0EF"/>
                </a:solidFill>
              </a:rPr>
              <a:t>1. Home → Get Data → Excel/CSV → select sales file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0E0EF"/>
                </a:solidFill>
              </a:rPr>
              <a:t>2. Remove nulls: Home → Remove Rows → Remove Blank 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334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0E0EF"/>
                </a:solidFill>
              </a:rPr>
              <a:t>3. Set Date column type → Date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0E0EF"/>
                </a:solidFill>
              </a:rPr>
              <a:t>4. Add Column: Month Name = Date.MonthName([Date])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5478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0E0EF"/>
                </a:solidFill>
              </a:rPr>
              <a:t>5. Add Column: Month Number = Date.Month([Date])  ← critical for sort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0050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0E0EF"/>
                </a:solidFill>
              </a:rPr>
              <a:t>6. Rename columns (remove spaces, clean names)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4622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0E0EF"/>
                </a:solidFill>
              </a:rPr>
              <a:t>7. Close &amp; Apply → data loads to report 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70432"/>
            <a:ext cx="3931920" cy="3794760"/>
          </a:xfrm>
          <a:prstGeom prst="rect">
            <a:avLst/>
          </a:prstGeom>
          <a:solidFill>
            <a:srgbClr val="0B162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DAX Measures (4 written)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755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Total Revenue: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2029968"/>
            <a:ext cx="3657600" cy="384048"/>
          </a:xfrm>
          <a:prstGeom prst="roundRect">
            <a:avLst>
              <a:gd name="adj" fmla="val 9524"/>
            </a:avLst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0574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SUM(Sales[Revenue])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5968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Total Quantity: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871216"/>
            <a:ext cx="3657600" cy="384048"/>
          </a:xfrm>
          <a:prstGeom prst="roundRect">
            <a:avLst>
              <a:gd name="adj" fmla="val 9524"/>
            </a:avLst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8986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SUM(Sales[Quantity])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4381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Total Orders: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3712464"/>
            <a:ext cx="3657600" cy="384048"/>
          </a:xfrm>
          <a:prstGeom prst="roundRect">
            <a:avLst>
              <a:gd name="adj" fmla="val 9524"/>
            </a:avLst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7398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COUNTROWS(Sales)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4279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Avg Order Value: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4553712"/>
            <a:ext cx="3657600" cy="384048"/>
          </a:xfrm>
          <a:prstGeom prst="roundRect">
            <a:avLst>
              <a:gd name="adj" fmla="val 9524"/>
            </a:avLst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45811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DIVIDE([Total Revenue],[Total Orders])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912</Words>
  <Application>Microsoft Office PowerPoint</Application>
  <PresentationFormat>On-screen Show (16:9)</PresentationFormat>
  <Paragraphs>119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Portfolio</dc:title>
  <dc:subject>PptxGenJS Presentation</dc:subject>
  <dc:creator>PptxGenJS</dc:creator>
  <cp:lastModifiedBy>Shamil Roshan</cp:lastModifiedBy>
  <cp:revision>7</cp:revision>
  <dcterms:created xsi:type="dcterms:W3CDTF">2026-05-07T20:43:47Z</dcterms:created>
  <dcterms:modified xsi:type="dcterms:W3CDTF">2026-06-07T17:35:35Z</dcterms:modified>
</cp:coreProperties>
</file>